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Alexandria"/>
      <p:regular r:id="rId201314"/>
    </p:embeddedFont>
    <p:embeddedFont>
      <p:font typeface="Alexandria SemiBold"/>
      <p:regular r:id="rId201315"/>
    </p:embeddedFont>
    <p:embeddedFont>
      <p:font typeface="Alexandria Bold"/>
      <p:regular r:id="rId201316"/>
    </p:embeddedFont>
    <p:embeddedFont>
      <p:font typeface="Alexandria Black"/>
      <p:regular r:id="rId201317"/>
    </p:embeddedFont>
    <p:embeddedFont>
      <p:font typeface="Nobile"/>
      <p:regular r:id="rId201318"/>
    </p:embeddedFont>
    <p:embeddedFont>
      <p:font typeface="Nobil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Analyse du Comportement d'Achat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Quels facteurs influencent les achats clients et comment les exploiter pour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améliorer les ventes et la fidélisation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?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8692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Aperçu du Projet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90613"/>
            <a:ext cx="6908330" cy="39147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22826" y="1686421"/>
            <a:ext cx="3513645" cy="1419027"/>
          </a:xfrm>
          <a:prstGeom prst="roundRect">
            <a:avLst>
              <a:gd name="adj" fmla="val 5420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12230" y="1875830"/>
            <a:ext cx="31348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Indicateurs clés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12230" y="2339181"/>
            <a:ext cx="3134837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Montant d'achat (PA) &amp; Fréquence d'achat (FA)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22826" y="3282752"/>
            <a:ext cx="3513645" cy="1130598"/>
          </a:xfrm>
          <a:prstGeom prst="roundRect">
            <a:avLst>
              <a:gd name="adj" fmla="val 6802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12230" y="3472160"/>
            <a:ext cx="31348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 familles de facteurs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12230" y="3935512"/>
            <a:ext cx="3134837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Clients · Produits · Contexte d'achat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22826" y="4590653"/>
            <a:ext cx="3513645" cy="1419027"/>
          </a:xfrm>
          <a:prstGeom prst="roundRect">
            <a:avLst>
              <a:gd name="adj" fmla="val 5420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12230" y="4780062"/>
            <a:ext cx="31348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Stack technique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12230" y="5243413"/>
            <a:ext cx="3134837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Python/Pandas · SQL · Power BI/DAX · Tests statistiques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2866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Jeu de Données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697236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3900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661475" y="2557165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Observations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27972" y="1697236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37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3927972" y="2557165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Valeurs manquantes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3927972" y="2965847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Review Rating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294674" y="3740745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0</a:t>
            </a:r>
            <a:endParaRPr lang="en-US" sz="4900" dirty="0"/>
          </a:p>
        </p:txBody>
      </p:sp>
      <p:sp>
        <p:nvSpPr>
          <p:cNvPr id="10" name="Text 7"/>
          <p:cNvSpPr/>
          <p:nvPr/>
        </p:nvSpPr>
        <p:spPr>
          <a:xfrm>
            <a:off x="2294674" y="4600674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Doublons &amp; Outliers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2294674" y="5009356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Contrôle IQR effectué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5524401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Données clients, produits, contexte d'achat + variables dérivées 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Purchase_Frequency_Num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27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Méthodologie Analytique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060" y="1761430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701940"/>
            <a:ext cx="1586812" cy="24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Interprétation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347307" y="4701940"/>
            <a:ext cx="1586812" cy="24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314884" y="4701940"/>
            <a:ext cx="1586812" cy="24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Comparaisons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1475" y="576282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Ordre structuré 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Client → Produit → Contexte d'achat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· Seuil de significativité : 5 %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9299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Résultats Statistiques Clés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67111"/>
            <a:ext cx="6296860" cy="113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2181523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Saison → PA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2590205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Seul facteur significatif 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 = 0,0106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96047"/>
            <a:ext cx="6296860" cy="113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51045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FA : aucun facteur significatif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77479" y="3919141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Aucune association catégorielle détectée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24983"/>
            <a:ext cx="6296860" cy="113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7479" y="48393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Previous Purchases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7479" y="5248077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Corrélations quasi nulles avec PA et FA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30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Tableau de Bord Power BI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7746" y="1438771"/>
            <a:ext cx="8456103" cy="48868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Chiffre d'Affaires par Catégorie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Clothing domine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Principalement grâce à un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volume d'occurrences supérieur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pas un montant moyen plus élevé.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D2DD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452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Opportunité : ventes croisées vers les catégories moins performantes.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7113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Saisonnalité du Montant d'Achat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233360" y="1834059"/>
            <a:ext cx="6296860" cy="3788966"/>
          </a:xfrm>
          <a:prstGeom prst="roundRect">
            <a:avLst>
              <a:gd name="adj" fmla="val 1866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39710" y="1840409"/>
            <a:ext cx="6284160" cy="944066"/>
          </a:xfrm>
          <a:custGeom>
            <a:avLst/>
            <a:gdLst/>
            <a:ahLst/>
            <a:cxnLst/>
            <a:rect l="l" t="t" r="r" b="b"/>
            <a:pathLst>
              <a:path w="6284160" h="944066">
                <a:moveTo>
                  <a:pt x="58921" y="0"/>
                </a:moveTo>
                <a:lnTo>
                  <a:pt x="6225239" y="0"/>
                </a:lnTo>
                <a:arcTo hR="58922" wR="58921" stAng="16200000" swAng="5400000"/>
                <a:lnTo>
                  <a:pt x="6284160" y="944066"/>
                </a:lnTo>
                <a:lnTo>
                  <a:pt x="0" y="944066"/>
                </a:lnTo>
                <a:lnTo>
                  <a:pt x="0" y="58922"/>
                </a:lnTo>
                <a:arcTo hR="58922" wR="58921" stAng="10800000" swAng="5400000"/>
                <a:close/>
              </a:path>
            </a:pathLst>
          </a:custGeom>
          <a:solidFill>
            <a:srgbClr val="D2DDF9"/>
          </a:solidFill>
          <a:ln/>
        </p:spPr>
      </p:sp>
      <p:sp>
        <p:nvSpPr>
          <p:cNvPr id="6" name="Text 3"/>
          <p:cNvSpPr/>
          <p:nvPr/>
        </p:nvSpPr>
        <p:spPr>
          <a:xfrm>
            <a:off x="5407981" y="2008684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🍂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Automne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07981" y="2361605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 le plus élevé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39710" y="2784475"/>
            <a:ext cx="6284160" cy="944066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9" name="Shape 6"/>
          <p:cNvSpPr/>
          <p:nvPr/>
        </p:nvSpPr>
        <p:spPr>
          <a:xfrm>
            <a:off x="5239710" y="2784475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10" name="Text 7"/>
          <p:cNvSpPr/>
          <p:nvPr/>
        </p:nvSpPr>
        <p:spPr>
          <a:xfrm>
            <a:off x="5407981" y="2952750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❄️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Hiver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407981" y="3305671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 élevé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9710" y="3728541"/>
            <a:ext cx="6284160" cy="944066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13" name="Shape 10"/>
          <p:cNvSpPr/>
          <p:nvPr/>
        </p:nvSpPr>
        <p:spPr>
          <a:xfrm>
            <a:off x="5239710" y="3728541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14" name="Text 11"/>
          <p:cNvSpPr/>
          <p:nvPr/>
        </p:nvSpPr>
        <p:spPr>
          <a:xfrm>
            <a:off x="5407981" y="3896816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🌸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Printemps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407981" y="4249738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 modéré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39710" y="4672608"/>
            <a:ext cx="6284160" cy="944066"/>
          </a:xfrm>
          <a:custGeom>
            <a:avLst/>
            <a:gdLst/>
            <a:ahLst/>
            <a:cxnLst/>
            <a:rect l="l" t="t" r="r" b="b"/>
            <a:pathLst>
              <a:path w="6284160" h="944066">
                <a:moveTo>
                  <a:pt x="0" y="0"/>
                </a:moveTo>
                <a:lnTo>
                  <a:pt x="6284160" y="0"/>
                </a:lnTo>
                <a:lnTo>
                  <a:pt x="6284160" y="885144"/>
                </a:lnTo>
                <a:arcTo hR="58922" wR="58921" stAng="0" swAng="5400000"/>
                <a:lnTo>
                  <a:pt x="58921" y="944066"/>
                </a:lnTo>
                <a:arcTo hR="58922" wR="58921" stAng="5400000" swAng="5400000"/>
                <a:lnTo>
                  <a:pt x="0" y="0"/>
                </a:lnTo>
                <a:close/>
              </a:path>
            </a:pathLst>
          </a:custGeom>
          <a:solidFill>
            <a:srgbClr val="D2DD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239710" y="4672608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18" name="Text 15"/>
          <p:cNvSpPr/>
          <p:nvPr/>
        </p:nvSpPr>
        <p:spPr>
          <a:xfrm>
            <a:off x="5407981" y="4840883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☀️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Été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407981" y="5193804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 le plus faible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33360" y="5791696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Seule variable significative (p = 0,0106) — à confirmer par des tests commerciaux.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1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Recommandations Business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11871"/>
            <a:ext cx="5339820" cy="1706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605" y="224035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893318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Consolider Clothing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302000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Sécuriser disponibilité, identifier best-sellers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111871"/>
            <a:ext cx="5339919" cy="17069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224035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2893318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Exploiter la saisonnalité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3302000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Adapter campagnes aux périodes à fort PA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17069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89605" y="41363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75881" y="478928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Fidélisation ciblée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5881" y="5197971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27 % abonnés — mesurer rétention réelle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17069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8530" y="41363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404708" y="4789289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Tester avant généraliser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4708" y="5197971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Tests A/B, indicateurs précis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2026-09-07T15:23:59Z</dcterms:created>
  <dcterms:modified xsi:type="dcterms:W3CDTF">2026-09-07T15:23:59Z</dcterms:modified>
</cp:coreProperties>
</file>